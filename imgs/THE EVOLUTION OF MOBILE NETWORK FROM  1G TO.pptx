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96DFF08F-DC6B-4601-B491-B0F83F6DD2DA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C7FF9-AF9F-83FA-ABC5-518D492D31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EVOLUTION OF MOBILE NETWORK FROM  1G TO 5G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C69C2E-BD5F-709D-471A-AFA964EFAD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 ODERO BRIAN AND TUYISENGE ANDREW</a:t>
            </a:r>
          </a:p>
        </p:txBody>
      </p:sp>
    </p:spTree>
    <p:extLst>
      <p:ext uri="{BB962C8B-B14F-4D97-AF65-F5344CB8AC3E}">
        <p14:creationId xmlns:p14="http://schemas.microsoft.com/office/powerpoint/2010/main" val="2667356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3965F-2123-CB5B-810F-4FD446ED2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352" y="284176"/>
            <a:ext cx="4808482" cy="1024362"/>
          </a:xfrm>
        </p:spPr>
        <p:txBody>
          <a:bodyPr>
            <a:normAutofit fontScale="90000"/>
          </a:bodyPr>
          <a:lstStyle/>
          <a:p>
            <a:r>
              <a:rPr lang="en-US" dirty="0"/>
              <a:t>    </a:t>
            </a:r>
            <a:r>
              <a:rPr lang="en-US" sz="5300" dirty="0"/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D9C79-3E36-E122-8441-EB27B10A9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journey from 1G to 5G represents a monumental shift in communication, transforming mobile phones from simple voice-only devices into the central hub for our digital lives. Each "G" (Generation) signifies a break in technology, introducing new capabilities and services</a:t>
            </a:r>
          </a:p>
        </p:txBody>
      </p:sp>
    </p:spTree>
    <p:extLst>
      <p:ext uri="{BB962C8B-B14F-4D97-AF65-F5344CB8AC3E}">
        <p14:creationId xmlns:p14="http://schemas.microsoft.com/office/powerpoint/2010/main" val="3603037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3215F-23C5-3C4F-1817-1F521DA6B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8" y="284176"/>
            <a:ext cx="10416267" cy="1323907"/>
          </a:xfrm>
        </p:spPr>
        <p:txBody>
          <a:bodyPr/>
          <a:lstStyle/>
          <a:p>
            <a:r>
              <a:rPr lang="en-US" dirty="0"/>
              <a:t>1G: The First Step – Analog Voice (1980s)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90456-FC6C-8C5D-CA84-60E941D97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3200" dirty="0"/>
              <a:t>· Technology: Analog</a:t>
            </a:r>
          </a:p>
          <a:p>
            <a:r>
              <a:rPr lang="en-US" sz="3200" dirty="0"/>
              <a:t>· Key Feature: Mobile Voice Calls</a:t>
            </a:r>
          </a:p>
          <a:p>
            <a:r>
              <a:rPr lang="en-US" sz="3200" dirty="0"/>
              <a:t>· Data Speed: 2.4kbps</a:t>
            </a:r>
          </a:p>
          <a:p>
            <a:r>
              <a:rPr lang="en-US" sz="3200" dirty="0"/>
              <a:t>· </a:t>
            </a:r>
            <a:r>
              <a:rPr lang="en-US" sz="3200" dirty="0" err="1"/>
              <a:t>StandarWhat</a:t>
            </a:r>
            <a:r>
              <a:rPr lang="en-US" sz="3200" dirty="0"/>
              <a:t> it was:</a:t>
            </a:r>
          </a:p>
          <a:p>
            <a:r>
              <a:rPr lang="en-US" sz="3200" dirty="0"/>
              <a:t>1G introduced the world to the concept of mobile </a:t>
            </a:r>
            <a:r>
              <a:rPr lang="en-US" sz="3200" dirty="0" err="1"/>
              <a:t>telephony.It</a:t>
            </a:r>
            <a:r>
              <a:rPr lang="en-US" sz="3200" dirty="0"/>
              <a:t> was a fully analog system where voice calls were transmitted via radio signals without any </a:t>
            </a:r>
            <a:r>
              <a:rPr lang="en-US" sz="3200" dirty="0" err="1"/>
              <a:t>encryption.d</a:t>
            </a:r>
            <a:r>
              <a:rPr lang="en-US" sz="3200" dirty="0"/>
              <a:t>: AMPS (Advanced Mobile Phone System), NMT, TACS</a:t>
            </a:r>
          </a:p>
        </p:txBody>
      </p:sp>
    </p:spTree>
    <p:extLst>
      <p:ext uri="{BB962C8B-B14F-4D97-AF65-F5344CB8AC3E}">
        <p14:creationId xmlns:p14="http://schemas.microsoft.com/office/powerpoint/2010/main" val="2257756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E5D92D-0251-6DDD-C480-763AB0985B24}"/>
              </a:ext>
            </a:extLst>
          </p:cNvPr>
          <p:cNvSpPr txBox="1"/>
          <p:nvPr/>
        </p:nvSpPr>
        <p:spPr>
          <a:xfrm>
            <a:off x="567559" y="137508"/>
            <a:ext cx="1048406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2800" dirty="0"/>
              <a:t>Limitations:</a:t>
            </a:r>
          </a:p>
          <a:p>
            <a:endParaRPr lang="en-US" sz="2800" dirty="0"/>
          </a:p>
          <a:p>
            <a:r>
              <a:rPr lang="en-US" sz="2800" dirty="0"/>
              <a:t>· Poor Voice Quality &amp; Security: Calls were static-filled and could be easily eavesdropped on with simple radio scanners.</a:t>
            </a:r>
          </a:p>
          <a:p>
            <a:r>
              <a:rPr lang="en-US" sz="2800" dirty="0"/>
              <a:t>· No Data Services: Purely for voice.</a:t>
            </a:r>
          </a:p>
          <a:p>
            <a:r>
              <a:rPr lang="en-US" sz="2800" dirty="0"/>
              <a:t>· Incompatibility: Different countries used different, incompatible systems.</a:t>
            </a:r>
          </a:p>
          <a:p>
            <a:r>
              <a:rPr lang="en-US" sz="2800" dirty="0"/>
              <a:t>· Bulkier Phones: The technology required large batteries and components, leading to the famous "brick phones."</a:t>
            </a:r>
          </a:p>
        </p:txBody>
      </p:sp>
    </p:spTree>
    <p:extLst>
      <p:ext uri="{BB962C8B-B14F-4D97-AF65-F5344CB8AC3E}">
        <p14:creationId xmlns:p14="http://schemas.microsoft.com/office/powerpoint/2010/main" val="3859415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ACEAA-BFAC-F54C-832C-8FA73DE10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2G: The Digital Revolution – SMS &amp; Encryption (1990s)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5E545-31E3-6E5D-57E8-039A9EC52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· Technology: Digital</a:t>
            </a:r>
          </a:p>
          <a:p>
            <a:r>
              <a:rPr lang="en-US" dirty="0"/>
              <a:t>· Key Feature: SMS (Text Messaging) and Encrypted Voice</a:t>
            </a:r>
          </a:p>
          <a:p>
            <a:r>
              <a:rPr lang="en-US" dirty="0"/>
              <a:t>· Data Speed: 14.4 Kbps to ~64 Kbps</a:t>
            </a:r>
          </a:p>
          <a:p>
            <a:r>
              <a:rPr lang="en-US" dirty="0"/>
              <a:t>· Standards: GSM (Global System for Mobile Communications), CDMA</a:t>
            </a:r>
          </a:p>
          <a:p>
            <a:endParaRPr lang="en-US" dirty="0"/>
          </a:p>
          <a:p>
            <a:r>
              <a:rPr lang="en-US" dirty="0"/>
              <a:t>The Leap Forward:</a:t>
            </a:r>
          </a:p>
          <a:p>
            <a:r>
              <a:rPr lang="en-US" dirty="0"/>
              <a:t>2G marked the shift from analog to </a:t>
            </a:r>
            <a:r>
              <a:rPr lang="en-US" dirty="0" err="1"/>
              <a:t>digital.This</a:t>
            </a:r>
            <a:r>
              <a:rPr lang="en-US" dirty="0"/>
              <a:t> was a revolutionary step that improved voice quality, made calls more secure through encryption, and dramatically increased network capacity.</a:t>
            </a:r>
          </a:p>
        </p:txBody>
      </p:sp>
    </p:spTree>
    <p:extLst>
      <p:ext uri="{BB962C8B-B14F-4D97-AF65-F5344CB8AC3E}">
        <p14:creationId xmlns:p14="http://schemas.microsoft.com/office/powerpoint/2010/main" val="576550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31A23D-9688-64BF-DD5C-3BA8559AFDE3}"/>
              </a:ext>
            </a:extLst>
          </p:cNvPr>
          <p:cNvSpPr txBox="1"/>
          <p:nvPr/>
        </p:nvSpPr>
        <p:spPr>
          <a:xfrm>
            <a:off x="1087820" y="733208"/>
            <a:ext cx="1061019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Key Innovations:</a:t>
            </a:r>
          </a:p>
          <a:p>
            <a:endParaRPr lang="en-US" sz="3600" dirty="0"/>
          </a:p>
          <a:p>
            <a:r>
              <a:rPr lang="en-US" sz="3600" dirty="0"/>
              <a:t>· SMS (Short Message Service): For the first time, people could send text messages.</a:t>
            </a:r>
          </a:p>
          <a:p>
            <a:r>
              <a:rPr lang="en-US" sz="3600" dirty="0"/>
              <a:t>· Roaming: GSM's global standard allowed for international roaming.</a:t>
            </a:r>
          </a:p>
          <a:p>
            <a:r>
              <a:rPr lang="en-US" sz="3600" dirty="0"/>
              <a:t>· Introduction of Data: Later upgrades like 2.5G (GPRS) and 2.75G (EDGE) introduced basic data services, enabling the first web browsing (WAP) and picture messaging (MMS) on phones.</a:t>
            </a:r>
          </a:p>
        </p:txBody>
      </p:sp>
    </p:spTree>
    <p:extLst>
      <p:ext uri="{BB962C8B-B14F-4D97-AF65-F5344CB8AC3E}">
        <p14:creationId xmlns:p14="http://schemas.microsoft.com/office/powerpoint/2010/main" val="3098588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62603-B5B1-F153-348C-8B3647582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3G: The Mobile Internet Era (2000s)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64400-1BBD-84F8-3E76-E36607650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dirty="0"/>
              <a:t>· Technology: Digital (Packet-Switched Networks)</a:t>
            </a:r>
          </a:p>
          <a:p>
            <a:r>
              <a:rPr lang="en-US" sz="2800" dirty="0"/>
              <a:t>· Key Feature: Mobile Internet &amp; Video Calling</a:t>
            </a:r>
          </a:p>
          <a:p>
            <a:r>
              <a:rPr lang="en-US" sz="2800" dirty="0"/>
              <a:t>· Data Speed: 200 Kbps to a few Mbps</a:t>
            </a:r>
          </a:p>
          <a:p>
            <a:r>
              <a:rPr lang="en-US" sz="2800" dirty="0"/>
              <a:t>· Standards: UMTS, CDMA2000</a:t>
            </a:r>
          </a:p>
          <a:p>
            <a:endParaRPr lang="en-US" sz="2800" dirty="0"/>
          </a:p>
          <a:p>
            <a:r>
              <a:rPr lang="en-US" sz="2800" dirty="0"/>
              <a:t>What it Enabled:</a:t>
            </a:r>
          </a:p>
          <a:p>
            <a:r>
              <a:rPr lang="en-US" sz="2800" dirty="0"/>
              <a:t>3G was all about </a:t>
            </a:r>
            <a:r>
              <a:rPr lang="en-US" sz="2800" dirty="0" err="1"/>
              <a:t>data.It</a:t>
            </a:r>
            <a:r>
              <a:rPr lang="en-US" sz="2800" dirty="0"/>
              <a:t> was designed to support more advanced data services, making true mobile internet a reality. This generation enabled the smartphone revolution.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751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2BBBBC-806C-8FF7-2A12-46C17B7B403F}"/>
              </a:ext>
            </a:extLst>
          </p:cNvPr>
          <p:cNvSpPr txBox="1"/>
          <p:nvPr/>
        </p:nvSpPr>
        <p:spPr>
          <a:xfrm>
            <a:off x="551793" y="815425"/>
            <a:ext cx="1098856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Key Innovations:</a:t>
            </a:r>
          </a:p>
          <a:p>
            <a:endParaRPr lang="en-US" sz="2800" dirty="0"/>
          </a:p>
          <a:p>
            <a:r>
              <a:rPr lang="en-US" sz="2800" dirty="0"/>
              <a:t>· Mobile Web Browsing: A usable experience on a phone.</a:t>
            </a:r>
          </a:p>
          <a:p>
            <a:r>
              <a:rPr lang="en-US" sz="2800" dirty="0"/>
              <a:t>· Video Calling &amp; Conferencing: Apps like Skype became possible.</a:t>
            </a:r>
          </a:p>
          <a:p>
            <a:r>
              <a:rPr lang="en-US" sz="2800" dirty="0"/>
              <a:t>· GPS and Location-Based Services: The foundation for maps and ride-sharing apps.</a:t>
            </a:r>
          </a:p>
          <a:p>
            <a:r>
              <a:rPr lang="en-US" sz="2800" dirty="0"/>
              <a:t>· App Ecosystems: The rise of the iPhone and Android was powered by 3G networks, allowing users to download and use apps on the go.</a:t>
            </a:r>
          </a:p>
        </p:txBody>
      </p:sp>
    </p:spTree>
    <p:extLst>
      <p:ext uri="{BB962C8B-B14F-4D97-AF65-F5344CB8AC3E}">
        <p14:creationId xmlns:p14="http://schemas.microsoft.com/office/powerpoint/2010/main" val="398393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C112C-E19F-2C6E-545D-82AB6A00E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4G: The Broadband Experience – Era of Apps (2010s)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38E62-6E38-FF69-A576-B8E026BB0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endParaRPr lang="en-US" sz="11200" dirty="0"/>
          </a:p>
          <a:p>
            <a:r>
              <a:rPr lang="en-US" sz="11200" dirty="0"/>
              <a:t>· Technology: All-IP (Internet Protocol)</a:t>
            </a:r>
          </a:p>
          <a:p>
            <a:r>
              <a:rPr lang="en-US" sz="11200" dirty="0"/>
              <a:t>· Key Feature: True Mobile Broadband, HD Streaming</a:t>
            </a:r>
          </a:p>
          <a:p>
            <a:r>
              <a:rPr lang="en-US" sz="11200" dirty="0"/>
              <a:t>· Data Speed: 100 Mbps to 1 Gbps (theoretically)</a:t>
            </a:r>
          </a:p>
          <a:p>
            <a:r>
              <a:rPr lang="en-US" sz="11200" dirty="0"/>
              <a:t>· Standard: LTE (Long-Term Evolution)</a:t>
            </a:r>
          </a:p>
          <a:p>
            <a:endParaRPr lang="en-US" sz="11200" dirty="0"/>
          </a:p>
          <a:p>
            <a:r>
              <a:rPr lang="en-US" sz="11200" dirty="0"/>
              <a:t>The Transformation:</a:t>
            </a:r>
          </a:p>
          <a:p>
            <a:r>
              <a:rPr lang="en-US" sz="11200" dirty="0"/>
              <a:t>4G was a complete redesign of the network to be entirely based on </a:t>
            </a:r>
            <a:r>
              <a:rPr lang="en-US" sz="11200" dirty="0" err="1"/>
              <a:t>IP,just</a:t>
            </a:r>
            <a:r>
              <a:rPr lang="en-US" sz="11200" dirty="0"/>
              <a:t> like the internet. This made it incredibly efficient for data, turning mobile networks into high-speed pipelines.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101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75BAD-45EE-2103-504E-CDA112A2EFBF}"/>
              </a:ext>
            </a:extLst>
          </p:cNvPr>
          <p:cNvSpPr txBox="1"/>
          <p:nvPr/>
        </p:nvSpPr>
        <p:spPr>
          <a:xfrm>
            <a:off x="1019503" y="366623"/>
            <a:ext cx="10152994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Key Innovations:</a:t>
            </a:r>
          </a:p>
          <a:p>
            <a:endParaRPr lang="en-US" sz="2800" dirty="0"/>
          </a:p>
          <a:p>
            <a:r>
              <a:rPr lang="en-US" sz="2800" dirty="0"/>
              <a:t>· High-Definition Video Streaming: Services like YouTube, Netflix, and Spotify became mainstream on mobile devices.</a:t>
            </a:r>
          </a:p>
          <a:p>
            <a:r>
              <a:rPr lang="en-US" sz="2800" dirty="0"/>
              <a:t>· Advanced Gaming: Low-latency online mobile gaming.</a:t>
            </a:r>
          </a:p>
          <a:p>
            <a:r>
              <a:rPr lang="en-US" sz="2800" dirty="0"/>
              <a:t>· Video Conferencing &amp; VoIP: Services like Zoom and WhatsApp calls replaced traditional calls for many.</a:t>
            </a:r>
          </a:p>
          <a:p>
            <a:r>
              <a:rPr lang="en-US" sz="2800" dirty="0"/>
              <a:t>· The Gig Economy: Enabled ride-sharing (Uber), food delivery apps, and complex cloud-based services.</a:t>
            </a:r>
          </a:p>
          <a:p>
            <a:r>
              <a:rPr lang="en-US" sz="2800" dirty="0"/>
              <a:t>· IoT Expansion: Made connecting a wider array of devices feasible.</a:t>
            </a:r>
          </a:p>
          <a:p>
            <a:endParaRPr lang="en-US" sz="2800" dirty="0"/>
          </a:p>
          <a:p>
            <a:r>
              <a:rPr lang="en-US" sz="2800" dirty="0"/>
              <a:t>4.5G (LTE-Advanced): A significant upgrade using carrier aggregation and other techniques to push speeds higher and reduce latency, acting as a bridge to 5G.</a:t>
            </a:r>
          </a:p>
        </p:txBody>
      </p:sp>
    </p:spTree>
    <p:extLst>
      <p:ext uri="{BB962C8B-B14F-4D97-AF65-F5344CB8AC3E}">
        <p14:creationId xmlns:p14="http://schemas.microsoft.com/office/powerpoint/2010/main" val="2891873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DD18B-1CE3-0854-EF3A-2C802143F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5G: The Connected Ecosystem – More Than Just Phones (2020s)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4642C-27D1-C6A8-FD9D-A68269036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· Technology: Advanced OFDM, Massive MIMO, Network Slicing</a:t>
            </a:r>
          </a:p>
          <a:p>
            <a:r>
              <a:rPr lang="en-US" dirty="0"/>
              <a:t>· Key Feature: Ultra-Reliable Low Latency, Massive IoT</a:t>
            </a:r>
          </a:p>
          <a:p>
            <a:r>
              <a:rPr lang="en-US" dirty="0"/>
              <a:t>· Data Speed: 1-10 Gbps (and beyond)</a:t>
            </a:r>
          </a:p>
          <a:p>
            <a:r>
              <a:rPr lang="en-US" dirty="0"/>
              <a:t>· Standard: 5G NR (New Radio)</a:t>
            </a:r>
          </a:p>
          <a:p>
            <a:r>
              <a:rPr lang="en-US" dirty="0"/>
              <a:t>The Paradigm Shift:</a:t>
            </a:r>
          </a:p>
          <a:p>
            <a:r>
              <a:rPr lang="en-US" dirty="0"/>
              <a:t>5G is not just an incremental speed </a:t>
            </a:r>
            <a:r>
              <a:rPr lang="en-US" dirty="0" err="1"/>
              <a:t>upgrade.It</a:t>
            </a:r>
            <a:r>
              <a:rPr lang="en-US" dirty="0"/>
              <a:t> is a transformative platform designed to connect everything and everyone seamlessly. It is built on three fundamental pillars:</a:t>
            </a:r>
          </a:p>
        </p:txBody>
      </p:sp>
    </p:spTree>
    <p:extLst>
      <p:ext uri="{BB962C8B-B14F-4D97-AF65-F5344CB8AC3E}">
        <p14:creationId xmlns:p14="http://schemas.microsoft.com/office/powerpoint/2010/main" val="1325845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E0A0FF-4309-D425-7834-D1B36D4E633A}"/>
              </a:ext>
            </a:extLst>
          </p:cNvPr>
          <p:cNvSpPr txBox="1"/>
          <p:nvPr/>
        </p:nvSpPr>
        <p:spPr>
          <a:xfrm>
            <a:off x="567559" y="366623"/>
            <a:ext cx="11466786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</a:t>
            </a:r>
            <a:r>
              <a:rPr lang="en-US" sz="2800" dirty="0"/>
              <a:t>Enhanced Mobile Broadband (</a:t>
            </a:r>
            <a:r>
              <a:rPr lang="en-US" sz="2800" dirty="0" err="1"/>
              <a:t>eMBB</a:t>
            </a:r>
            <a:r>
              <a:rPr lang="en-US" sz="2800" dirty="0"/>
              <a:t>):</a:t>
            </a:r>
          </a:p>
          <a:p>
            <a:r>
              <a:rPr lang="en-US" sz="2800" dirty="0"/>
              <a:t>   · What it means: Drastically faster speeds (multi-gigabit) and capacity.</a:t>
            </a:r>
          </a:p>
          <a:p>
            <a:r>
              <a:rPr lang="en-US" sz="2800" dirty="0"/>
              <a:t>   · Use Cases: 4K/8K streaming, Virtual Reality (VR), Augmented Reality (AR), cloud gaming.</a:t>
            </a:r>
          </a:p>
          <a:p>
            <a:r>
              <a:rPr lang="en-US" sz="2800" dirty="0"/>
              <a:t>2. Ultra-Reliable Low Latency Communications (URLLC):</a:t>
            </a:r>
          </a:p>
          <a:p>
            <a:r>
              <a:rPr lang="en-US" sz="2800" dirty="0"/>
              <a:t>   · What it means: Extremely low delay (as low as 1ms) and ultra-high reliability.</a:t>
            </a:r>
          </a:p>
          <a:p>
            <a:r>
              <a:rPr lang="en-US" sz="2800" dirty="0"/>
              <a:t>   · Use Cases: Remote surgery, industrial automation, autonomous vehicles, mission-critical communications.</a:t>
            </a:r>
          </a:p>
          <a:p>
            <a:r>
              <a:rPr lang="en-US" sz="2800" dirty="0"/>
              <a:t>3. Massive Machine-Type Communications (</a:t>
            </a:r>
            <a:r>
              <a:rPr lang="en-US" sz="2800" dirty="0" err="1"/>
              <a:t>mMTC</a:t>
            </a:r>
            <a:r>
              <a:rPr lang="en-US" sz="2800" dirty="0"/>
              <a:t>):</a:t>
            </a:r>
          </a:p>
          <a:p>
            <a:r>
              <a:rPr lang="en-US" sz="2800" dirty="0"/>
              <a:t>   · What it means: Connecting a vast number of devices (up to 1 million per km²) with low power consumption.</a:t>
            </a:r>
          </a:p>
          <a:p>
            <a:r>
              <a:rPr lang="en-US" sz="2800" dirty="0"/>
              <a:t>   · Use Cases: Smart cities (sensors, traffic lights), smart agriculture, massive IoT deployments.</a:t>
            </a:r>
          </a:p>
        </p:txBody>
      </p:sp>
    </p:spTree>
    <p:extLst>
      <p:ext uri="{BB962C8B-B14F-4D97-AF65-F5344CB8AC3E}">
        <p14:creationId xmlns:p14="http://schemas.microsoft.com/office/powerpoint/2010/main" val="4147200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26235F-BD5B-3214-9983-885C8F9ABF6A}"/>
              </a:ext>
            </a:extLst>
          </p:cNvPr>
          <p:cNvSpPr txBox="1"/>
          <p:nvPr/>
        </p:nvSpPr>
        <p:spPr>
          <a:xfrm>
            <a:off x="851339" y="1308538"/>
            <a:ext cx="1076784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dirty="0"/>
          </a:p>
          <a:p>
            <a:r>
              <a:rPr lang="en-US" sz="2800" dirty="0"/>
              <a:t>Key Technologies:</a:t>
            </a:r>
          </a:p>
          <a:p>
            <a:endParaRPr lang="en-US" sz="2800" dirty="0"/>
          </a:p>
          <a:p>
            <a:r>
              <a:rPr lang="en-US" sz="2800" dirty="0"/>
              <a:t>· Network Slicing: The ability to create multiple virtual networks on a single physical 5G network, each optimized for a specific need (e.g., one "slice" for smartphones, another for autonomous cars, and another for factory sensors).</a:t>
            </a:r>
          </a:p>
          <a:p>
            <a:r>
              <a:rPr lang="en-US" sz="2800" dirty="0"/>
              <a:t>· Edge Computing: Processing data closer to where it is generated, reducing latency for critical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786812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3A004EF-F1BC-5E0E-081E-84A62F6060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908342"/>
              </p:ext>
            </p:extLst>
          </p:nvPr>
        </p:nvGraphicFramePr>
        <p:xfrm>
          <a:off x="254876" y="247504"/>
          <a:ext cx="11682247" cy="6362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4892">
                  <a:extLst>
                    <a:ext uri="{9D8B030D-6E8A-4147-A177-3AD203B41FA5}">
                      <a16:colId xmlns:a16="http://schemas.microsoft.com/office/drawing/2014/main" val="666265920"/>
                    </a:ext>
                  </a:extLst>
                </a:gridCol>
                <a:gridCol w="2167761">
                  <a:extLst>
                    <a:ext uri="{9D8B030D-6E8A-4147-A177-3AD203B41FA5}">
                      <a16:colId xmlns:a16="http://schemas.microsoft.com/office/drawing/2014/main" val="164311693"/>
                    </a:ext>
                  </a:extLst>
                </a:gridCol>
                <a:gridCol w="2354051">
                  <a:extLst>
                    <a:ext uri="{9D8B030D-6E8A-4147-A177-3AD203B41FA5}">
                      <a16:colId xmlns:a16="http://schemas.microsoft.com/office/drawing/2014/main" val="2103597670"/>
                    </a:ext>
                  </a:extLst>
                </a:gridCol>
                <a:gridCol w="2116953">
                  <a:extLst>
                    <a:ext uri="{9D8B030D-6E8A-4147-A177-3AD203B41FA5}">
                      <a16:colId xmlns:a16="http://schemas.microsoft.com/office/drawing/2014/main" val="765956284"/>
                    </a:ext>
                  </a:extLst>
                </a:gridCol>
                <a:gridCol w="3348590">
                  <a:extLst>
                    <a:ext uri="{9D8B030D-6E8A-4147-A177-3AD203B41FA5}">
                      <a16:colId xmlns:a16="http://schemas.microsoft.com/office/drawing/2014/main" val="1607378141"/>
                    </a:ext>
                  </a:extLst>
                </a:gridCol>
              </a:tblGrid>
              <a:tr h="785151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KEY  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PRIMARY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       </a:t>
                      </a:r>
                      <a:r>
                        <a:rPr lang="en-US" sz="22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IMPACT &amp; LIGACY         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647576"/>
                  </a:ext>
                </a:extLst>
              </a:tr>
              <a:tr h="785151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1G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Analog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Voice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2.4 Kbps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Made mobile voice calls possible.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725813"/>
                  </a:ext>
                </a:extLst>
              </a:tr>
              <a:tr h="1132739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2G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Digital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Voice, SMS, Encrypted Calls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64 Kbps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Made mobile communication secure and popular.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882005"/>
                  </a:ext>
                </a:extLst>
              </a:tr>
              <a:tr h="1132739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3G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Packet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Mobile Internet, Video Calls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2 Mbps – 1 Gbps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Unleashed the mobile web and smartphone apps.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470769"/>
                  </a:ext>
                </a:extLst>
              </a:tr>
              <a:tr h="1132739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4G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All-IP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HD Video, Mobile Broadband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100 Mbps – 1 Gbps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Powered the app economy and streaming era.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347949"/>
                  </a:ext>
                </a:extLst>
              </a:tr>
              <a:tr h="1132739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5G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OFDM, MIMO, </a:t>
                      </a:r>
                      <a:r>
                        <a:rPr lang="en-US" sz="2400" dirty="0" err="1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Slicinng</a:t>
                      </a:r>
                      <a:endParaRPr lang="en-US" sz="2400" dirty="0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IoT, VR/AR, Mission-Critical 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1-10 + Gbps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Connecting everything;</a:t>
                      </a:r>
                    </a:p>
                    <a:p>
                      <a:r>
                        <a:rPr lang="en-US" sz="24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Enabling true automation.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710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17857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2415</TotalTime>
  <Words>1103</Words>
  <Application>Microsoft Office PowerPoint</Application>
  <PresentationFormat>Widescreen</PresentationFormat>
  <Paragraphs>115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Corbel</vt:lpstr>
      <vt:lpstr>Wingdings</vt:lpstr>
      <vt:lpstr>Banded</vt:lpstr>
      <vt:lpstr>THE EVOLUTION OF MOBILE NETWORK FROM  1G TO 5G </vt:lpstr>
      <vt:lpstr>    INTRODUCTION</vt:lpstr>
      <vt:lpstr>1G: The First Step – Analog Voice (1980s)</vt:lpstr>
      <vt:lpstr>PowerPoint Presentation</vt:lpstr>
      <vt:lpstr>2G: The Digital Revolution – SMS &amp; Encryption (1990s)</vt:lpstr>
      <vt:lpstr>PowerPoint Presentation</vt:lpstr>
      <vt:lpstr>3G: The Mobile Internet Era (2000s)</vt:lpstr>
      <vt:lpstr>PowerPoint Presentation</vt:lpstr>
      <vt:lpstr>4G: The Broadband Experience – Era of Apps (2010s)</vt:lpstr>
      <vt:lpstr>PowerPoint Presentation</vt:lpstr>
      <vt:lpstr>5G: The Connected Ecosystem – More Than Just Phones (2020s)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Odero Brian</dc:creator>
  <cp:lastModifiedBy>Odero Brian</cp:lastModifiedBy>
  <cp:revision>2</cp:revision>
  <dcterms:created xsi:type="dcterms:W3CDTF">2025-11-24T04:56:43Z</dcterms:created>
  <dcterms:modified xsi:type="dcterms:W3CDTF">2025-11-25T21:11:54Z</dcterms:modified>
</cp:coreProperties>
</file>