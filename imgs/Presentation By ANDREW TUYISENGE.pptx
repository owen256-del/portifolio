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7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110" y="782955"/>
            <a:ext cx="8115300" cy="2168525"/>
          </a:xfrm>
        </p:spPr>
        <p:txBody>
          <a:bodyPr>
            <a:noAutofit/>
          </a:bodyPr>
          <a:lstStyle/>
          <a:p>
            <a:pPr>
              <a:defRPr sz="4400" b="1"/>
            </a:pPr>
            <a:r>
              <a:rPr sz="4800"/>
              <a:t>History of Email and Online Communication</a:t>
            </a:r>
            <a:endParaRPr sz="4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9900" y="5373370"/>
            <a:ext cx="8212455" cy="814705"/>
          </a:xfrm>
        </p:spPr>
        <p:txBody>
          <a:bodyPr/>
          <a:lstStyle/>
          <a:p>
            <a:pPr>
              <a:defRPr sz="2200" i="1"/>
            </a:pPr>
            <a:r>
              <a:rPr sz="3200">
                <a:solidFill>
                  <a:schemeClr val="accent1"/>
                </a:solidFill>
              </a:rPr>
              <a:t>Presentation</a:t>
            </a:r>
            <a:r>
              <a:rPr lang="en-US" sz="3200">
                <a:solidFill>
                  <a:schemeClr val="accent1"/>
                </a:solidFill>
              </a:rPr>
              <a:t> BY TUYISENGE ANDREW</a:t>
            </a:r>
            <a:endParaRPr lang="en-US" sz="320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3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  <p:bldP spid="2" grpId="4"/>
      <p:bldP spid="2" grpId="5"/>
      <p:bldP spid="2" grpId="6"/>
      <p:bldP spid="2" grpId="7"/>
      <p:bldP spid="2" grpId="8"/>
      <p:bldP spid="2" grpId="9"/>
      <p:bldP spid="2" grpId="10"/>
      <p:bldP spid="2" grpId="11"/>
      <p:bldP spid="2" grpId="12"/>
      <p:bldP spid="2" grpId="13"/>
      <p:bldP spid="2" grpId="14"/>
      <p:bldP spid="2" grpId="15"/>
      <p:bldP spid="2" grpId="16"/>
      <p:bldP spid="2" grpId="17"/>
      <p:bldP spid="2" grpId="18"/>
      <p:bldP spid="2" grpId="19"/>
      <p:bldP spid="2" grpId="20"/>
      <p:bldP spid="2" grpId="21"/>
      <p:bldP spid="2" grpId="22"/>
      <p:bldP spid="2" grpId="23"/>
      <p:bldP spid="2" grpId="24"/>
      <p:bldP spid="2" grpId="25"/>
      <p:bldP spid="2" grpId="26"/>
      <p:bldP spid="2" grpId="27"/>
      <p:bldP spid="2" grpId="28"/>
      <p:bldP spid="2" grpId="29"/>
      <p:bldP spid="2" grpId="30"/>
      <p:bldP spid="2" grpId="31"/>
      <p:bldP spid="3" grpId="0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4005"/>
            <a:ext cx="8229600" cy="836295"/>
          </a:xfrm>
        </p:spPr>
        <p:txBody>
          <a:bodyPr/>
          <a:p>
            <a:pPr algn="ctr"/>
            <a:r>
              <a:rPr lang="en-US" sz="4400"/>
              <a:t>INTRODUCTION</a:t>
            </a:r>
            <a:endParaRPr lang="en-US" sz="4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3185"/>
            <a:ext cx="8229600" cy="4774565"/>
          </a:xfrm>
        </p:spPr>
        <p:txBody>
          <a:bodyPr/>
          <a:p>
            <a:r>
              <a:rPr lang="en-US"/>
              <a:t>The history of email and online communication is a fascinating story that parallels the development of the internet itself.</a:t>
            </a:r>
            <a:endParaRPr lang="en-US"/>
          </a:p>
          <a:p>
            <a:r>
              <a:rPr lang="en-US"/>
              <a:t>Before email, communication relied on traditional methods like the postal service, and telephone calls.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/>
            </a:pPr>
            <a:r>
              <a:t>1. </a:t>
            </a:r>
            <a:r>
              <a:rPr sz="5400"/>
              <a:t>Early </a:t>
            </a:r>
            <a:r>
              <a:t>Foundations (1960s–1970s)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Font typeface="Wingdings" panose="05000000000000000000" charset="0"/>
              <a:buChar char="v"/>
              <a:defRPr sz="2200"/>
            </a:pPr>
            <a:r>
              <a:rPr lang="en-US" sz="3200"/>
              <a:t> </a:t>
            </a:r>
            <a:r>
              <a:rPr sz="3200"/>
              <a:t>Birth of ARPANET — first major computer network</a:t>
            </a:r>
            <a:r>
              <a:rPr lang="en-US" sz="3200"/>
              <a:t>.</a:t>
            </a:r>
            <a:endParaRPr sz="3200"/>
          </a:p>
          <a:p>
            <a:pPr>
              <a:buFont typeface="Wingdings" panose="05000000000000000000" charset="0"/>
              <a:buChar char="v"/>
              <a:defRPr sz="2200"/>
            </a:pPr>
            <a:r>
              <a:rPr lang="en-US" sz="3200"/>
              <a:t> </a:t>
            </a:r>
            <a:r>
              <a:rPr sz="3200"/>
              <a:t>Enabled long‑distance computer communication</a:t>
            </a:r>
            <a:r>
              <a:rPr lang="en-US" sz="3200"/>
              <a:t>.</a:t>
            </a:r>
            <a:endParaRPr sz="3200"/>
          </a:p>
          <a:p>
            <a:pPr>
              <a:buFont typeface="Wingdings" panose="05000000000000000000" charset="0"/>
              <a:buChar char="v"/>
              <a:defRPr sz="2200"/>
            </a:pPr>
            <a:r>
              <a:rPr lang="en-US" sz="3200"/>
              <a:t> </a:t>
            </a:r>
            <a:r>
              <a:rPr sz="3200"/>
              <a:t>Early systems allowed messages on the same machine</a:t>
            </a:r>
            <a:r>
              <a:rPr lang="en-US" sz="3200"/>
              <a:t>.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984250"/>
          </a:xfrm>
        </p:spPr>
        <p:txBody>
          <a:bodyPr/>
          <a:lstStyle/>
          <a:p>
            <a:pPr>
              <a:defRPr sz="3400" b="1"/>
            </a:pPr>
            <a:r>
              <a:rPr sz="4400"/>
              <a:t>2. The Invention </a:t>
            </a:r>
            <a:r>
              <a:rPr sz="4400"/>
              <a:t>of Email (1971)</a:t>
            </a:r>
            <a:endParaRPr sz="4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</a:p>
          <a:p>
            <a:pPr>
              <a:buFont typeface="Wingdings" panose="05000000000000000000" charset="0"/>
              <a:buChar char="v"/>
              <a:defRPr sz="2200"/>
            </a:pPr>
            <a:r>
              <a:rPr lang="en-US" sz="3600"/>
              <a:t> </a:t>
            </a:r>
            <a:r>
              <a:rPr sz="3600"/>
              <a:t>Ray Tomlinson sends first email</a:t>
            </a:r>
            <a:r>
              <a:rPr lang="en-US" sz="3600"/>
              <a:t>.</a:t>
            </a:r>
            <a:endParaRPr sz="3600"/>
          </a:p>
          <a:p>
            <a:pPr>
              <a:buFont typeface="Wingdings" panose="05000000000000000000" charset="0"/>
              <a:buChar char="v"/>
              <a:defRPr sz="2200"/>
            </a:pPr>
            <a:r>
              <a:rPr lang="en-US" sz="3600"/>
              <a:t> </a:t>
            </a:r>
            <a:r>
              <a:rPr sz="3600"/>
              <a:t>Introduces the '@' addressing format</a:t>
            </a:r>
            <a:r>
              <a:rPr lang="en-US" sz="3600"/>
              <a:t> to separate the user from the host.</a:t>
            </a:r>
            <a:endParaRPr sz="3600"/>
          </a:p>
          <a:p>
            <a:pPr>
              <a:buFont typeface="Wingdings" panose="05000000000000000000" charset="0"/>
              <a:buChar char="v"/>
              <a:defRPr sz="2200"/>
            </a:pPr>
            <a:r>
              <a:rPr lang="en-US" sz="3600"/>
              <a:t> </a:t>
            </a:r>
            <a:r>
              <a:rPr sz="3600"/>
              <a:t>Beginning of network-based messaging</a:t>
            </a:r>
            <a:r>
              <a:rPr lang="en-US" sz="3600"/>
              <a:t>.</a:t>
            </a:r>
            <a:endParaRPr lang="en-US" sz="36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984250"/>
          </a:xfrm>
        </p:spPr>
        <p:txBody>
          <a:bodyPr>
            <a:normAutofit fontScale="90000"/>
          </a:bodyPr>
          <a:lstStyle/>
          <a:p>
            <a:pPr>
              <a:defRPr sz="3400" b="1"/>
            </a:pPr>
            <a:r>
              <a:rPr sz="4400"/>
              <a:t>3. Expansion </a:t>
            </a:r>
            <a:r>
              <a:rPr sz="4400"/>
              <a:t>Era (1970s–1980s)</a:t>
            </a:r>
            <a:endParaRPr sz="4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Font typeface="Wingdings" panose="05000000000000000000" charset="0"/>
              <a:buChar char="v"/>
              <a:defRPr sz="2200"/>
            </a:pPr>
            <a:r>
              <a:rPr lang="en-US" sz="3600"/>
              <a:t> </a:t>
            </a:r>
            <a:r>
              <a:rPr sz="3600"/>
              <a:t>Email becomes dominant on ARPANET</a:t>
            </a:r>
            <a:r>
              <a:rPr lang="en-US" sz="3600"/>
              <a:t>.</a:t>
            </a:r>
            <a:endParaRPr sz="3600"/>
          </a:p>
          <a:p>
            <a:pPr>
              <a:buFont typeface="Wingdings" panose="05000000000000000000" charset="0"/>
              <a:buChar char="v"/>
              <a:defRPr sz="2200"/>
            </a:pPr>
            <a:r>
              <a:rPr lang="en-US" sz="3600"/>
              <a:t> </a:t>
            </a:r>
            <a:r>
              <a:rPr sz="3600"/>
              <a:t>SMTP introduced in 198</a:t>
            </a:r>
            <a:r>
              <a:rPr lang="en-US" sz="3600"/>
              <a:t>3.</a:t>
            </a:r>
            <a:endParaRPr sz="3600"/>
          </a:p>
          <a:p>
            <a:pPr>
              <a:buFont typeface="Wingdings" panose="05000000000000000000" charset="0"/>
              <a:buChar char="v"/>
              <a:defRPr sz="2200"/>
            </a:pPr>
            <a:r>
              <a:rPr lang="en-US" sz="3600"/>
              <a:t> </a:t>
            </a:r>
            <a:r>
              <a:rPr sz="3600"/>
              <a:t>POP &amp; IMAP developed for mail retrieval</a:t>
            </a:r>
            <a:r>
              <a:rPr lang="en-US" sz="3600"/>
              <a:t>.</a:t>
            </a:r>
            <a:endParaRPr lang="en-US" sz="36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1252220"/>
          </a:xfrm>
        </p:spPr>
        <p:txBody>
          <a:bodyPr>
            <a:noAutofit/>
          </a:bodyPr>
          <a:lstStyle/>
          <a:p>
            <a:pPr>
              <a:defRPr sz="3400" b="1"/>
            </a:pPr>
            <a:r>
              <a:rPr sz="4400"/>
              <a:t>4. </a:t>
            </a:r>
            <a:r>
              <a:rPr sz="4400"/>
              <a:t>Public Email Revolution (1990s)</a:t>
            </a:r>
            <a:endParaRPr sz="4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Font typeface="Wingdings" panose="05000000000000000000" charset="0"/>
              <a:buChar char="Ø"/>
              <a:defRPr sz="2200"/>
            </a:pPr>
            <a:r>
              <a:rPr lang="en-US" sz="3200"/>
              <a:t> </a:t>
            </a:r>
            <a:r>
              <a:rPr sz="3200"/>
              <a:t>World Wide Web goes global</a:t>
            </a:r>
            <a:r>
              <a:rPr lang="en-US" sz="3200"/>
              <a:t> in 1991.</a:t>
            </a:r>
            <a:endParaRPr sz="3200"/>
          </a:p>
          <a:p>
            <a:pPr>
              <a:buFont typeface="Wingdings" panose="05000000000000000000" charset="0"/>
              <a:buChar char="Ø"/>
              <a:defRPr sz="2200"/>
            </a:pPr>
            <a:r>
              <a:rPr lang="en-US" sz="3200"/>
              <a:t> </a:t>
            </a:r>
            <a:r>
              <a:rPr sz="3200"/>
              <a:t>Hotmail launches in 1996</a:t>
            </a:r>
            <a:r>
              <a:rPr lang="en-US" sz="3200"/>
              <a:t>.</a:t>
            </a:r>
            <a:endParaRPr sz="3200"/>
          </a:p>
          <a:p>
            <a:pPr>
              <a:buFont typeface="Wingdings" panose="05000000000000000000" charset="0"/>
              <a:buChar char="Ø"/>
              <a:defRPr sz="2200"/>
            </a:pPr>
            <a:r>
              <a:rPr lang="en-US" sz="3200"/>
              <a:t> </a:t>
            </a:r>
            <a:r>
              <a:rPr sz="3200"/>
              <a:t>Yahoo Mail follows in 1997</a:t>
            </a:r>
            <a:r>
              <a:rPr lang="en-US" sz="3200"/>
              <a:t>.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1520190"/>
          </a:xfrm>
        </p:spPr>
        <p:txBody>
          <a:bodyPr/>
          <a:lstStyle/>
          <a:p>
            <a:pPr>
              <a:defRPr sz="3400" b="1"/>
            </a:pPr>
            <a:r>
              <a:rPr sz="4400"/>
              <a:t>5. Instant Messaging Era (2000s)</a:t>
            </a:r>
            <a:endParaRPr sz="4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96720"/>
            <a:ext cx="8229600" cy="4431030"/>
          </a:xfrm>
        </p:spPr>
        <p:txBody>
          <a:bodyPr/>
          <a:lstStyle/>
          <a:p>
            <a:pPr marL="0" indent="0">
              <a:buNone/>
            </a:pPr>
          </a:p>
          <a:p>
            <a:pPr>
              <a:buFont typeface="Wingdings" panose="05000000000000000000" charset="0"/>
              <a:buChar char="Ø"/>
              <a:defRPr sz="2200"/>
            </a:pPr>
            <a:r>
              <a:rPr lang="en-US" sz="3200"/>
              <a:t> </a:t>
            </a:r>
            <a:r>
              <a:rPr sz="3200"/>
              <a:t>ICQ, AOL and MSN Messenger rise</a:t>
            </a:r>
            <a:r>
              <a:rPr lang="en-US" sz="3200"/>
              <a:t>.</a:t>
            </a:r>
            <a:endParaRPr sz="3200"/>
          </a:p>
          <a:p>
            <a:pPr>
              <a:buFont typeface="Wingdings" panose="05000000000000000000" charset="0"/>
              <a:buChar char="Ø"/>
              <a:defRPr sz="2200"/>
            </a:pPr>
            <a:r>
              <a:rPr lang="en-US" sz="3200"/>
              <a:t> </a:t>
            </a:r>
            <a:r>
              <a:rPr sz="3200"/>
              <a:t>BBM becomes popular for encrypted chat</a:t>
            </a:r>
            <a:r>
              <a:rPr lang="en-US" sz="3200"/>
              <a:t>.</a:t>
            </a:r>
            <a:endParaRPr sz="3200"/>
          </a:p>
          <a:p>
            <a:pPr>
              <a:buFont typeface="Wingdings" panose="05000000000000000000" charset="0"/>
              <a:buChar char="Ø"/>
              <a:defRPr sz="2200"/>
            </a:pPr>
            <a:r>
              <a:rPr lang="en-US" sz="3200"/>
              <a:t> </a:t>
            </a:r>
            <a:r>
              <a:rPr sz="3200"/>
              <a:t>Real-time communication becomes mainstream</a:t>
            </a:r>
            <a:r>
              <a:rPr lang="en-US" sz="3200"/>
              <a:t>.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1236345"/>
          </a:xfrm>
        </p:spPr>
        <p:txBody>
          <a:bodyPr>
            <a:noAutofit/>
          </a:bodyPr>
          <a:lstStyle/>
          <a:p>
            <a:pPr>
              <a:defRPr sz="3400" b="1"/>
            </a:pPr>
            <a:r>
              <a:rPr sz="4400"/>
              <a:t>6. Mobile &amp; Social Messaging (2010s–Present)</a:t>
            </a:r>
            <a:endParaRPr sz="4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4150"/>
            <a:ext cx="8229600" cy="4673600"/>
          </a:xfrm>
        </p:spPr>
        <p:txBody>
          <a:bodyPr/>
          <a:lstStyle/>
          <a:p/>
          <a:p>
            <a:pPr>
              <a:buFont typeface="Wingdings" panose="05000000000000000000" charset="0"/>
              <a:buChar char="v"/>
              <a:defRPr sz="2200"/>
            </a:pPr>
            <a:r>
              <a:rPr lang="en-US" sz="3200"/>
              <a:t> </a:t>
            </a:r>
            <a:r>
              <a:rPr sz="3200"/>
              <a:t>WhatsApp, Telegram, Snapchat introduce modern chat</a:t>
            </a:r>
            <a:r>
              <a:rPr lang="en-US" sz="3200"/>
              <a:t>.</a:t>
            </a:r>
            <a:endParaRPr sz="3200"/>
          </a:p>
          <a:p>
            <a:pPr>
              <a:buFont typeface="Wingdings" panose="05000000000000000000" charset="0"/>
              <a:buChar char="v"/>
              <a:defRPr sz="2200"/>
            </a:pPr>
            <a:r>
              <a:rPr lang="en-US" sz="3200"/>
              <a:t> </a:t>
            </a:r>
            <a:r>
              <a:rPr sz="3200"/>
              <a:t>Social media integrates private messaging</a:t>
            </a:r>
            <a:r>
              <a:rPr lang="en-US" sz="3200"/>
              <a:t>.</a:t>
            </a:r>
            <a:endParaRPr sz="3200"/>
          </a:p>
          <a:p>
            <a:pPr>
              <a:buFont typeface="Wingdings" panose="05000000000000000000" charset="0"/>
              <a:buChar char="v"/>
              <a:defRPr sz="2200"/>
            </a:pPr>
            <a:r>
              <a:rPr lang="en-US" sz="3200"/>
              <a:t> </a:t>
            </a:r>
            <a:r>
              <a:rPr sz="3200"/>
              <a:t>Support for voice, video, media sharing</a:t>
            </a:r>
            <a:r>
              <a:rPr lang="en-US" sz="3200"/>
              <a:t>.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4330"/>
            <a:ext cx="8229600" cy="862965"/>
          </a:xfrm>
        </p:spPr>
        <p:txBody>
          <a:bodyPr/>
          <a:lstStyle/>
          <a:p>
            <a:pPr>
              <a:defRPr sz="3400" b="1"/>
            </a:pPr>
            <a:r>
              <a:rPr sz="4400"/>
              <a:t>7. Email Today</a:t>
            </a:r>
            <a:endParaRPr sz="4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Font typeface="Wingdings" panose="05000000000000000000" charset="0"/>
              <a:buChar char="v"/>
              <a:defRPr sz="2200"/>
            </a:pPr>
            <a:r>
              <a:rPr lang="en-US" sz="3600"/>
              <a:t> </a:t>
            </a:r>
            <a:r>
              <a:rPr sz="3200"/>
              <a:t>Vital for business and academic communication</a:t>
            </a:r>
            <a:r>
              <a:rPr lang="en-US" sz="3200"/>
              <a:t>.</a:t>
            </a:r>
            <a:endParaRPr sz="3200"/>
          </a:p>
          <a:p>
            <a:pPr>
              <a:buFont typeface="Wingdings" panose="05000000000000000000" charset="0"/>
              <a:buChar char="v"/>
              <a:defRPr sz="2200"/>
            </a:pPr>
            <a:r>
              <a:rPr lang="en-US" sz="3200"/>
              <a:t> </a:t>
            </a:r>
            <a:r>
              <a:rPr sz="3200"/>
              <a:t>Used for verification, cloud collaboration</a:t>
            </a:r>
            <a:r>
              <a:rPr lang="en-US" sz="3200"/>
              <a:t>.</a:t>
            </a:r>
            <a:endParaRPr sz="3200"/>
          </a:p>
          <a:p>
            <a:pPr>
              <a:buFont typeface="Wingdings" panose="05000000000000000000" charset="0"/>
              <a:buChar char="v"/>
              <a:defRPr sz="2200"/>
            </a:pPr>
            <a:r>
              <a:rPr lang="en-US" sz="3200"/>
              <a:t> </a:t>
            </a:r>
            <a:r>
              <a:rPr sz="3200"/>
              <a:t>Improved with AI spam control</a:t>
            </a:r>
            <a:r>
              <a:rPr lang="en-US" sz="3200"/>
              <a:t>.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4020"/>
            <a:ext cx="8229600" cy="970280"/>
          </a:xfrm>
        </p:spPr>
        <p:txBody>
          <a:bodyPr/>
          <a:p>
            <a:r>
              <a:rPr lang="en-US"/>
              <a:t>In summary,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695" y="1592580"/>
            <a:ext cx="8378825" cy="4535170"/>
          </a:xfrm>
        </p:spPr>
        <p:txBody>
          <a:bodyPr/>
          <a:p>
            <a:pPr marL="914400" lvl="2" indent="0">
              <a:buNone/>
            </a:pPr>
            <a:r>
              <a:rPr lang="en-US" sz="3200"/>
              <a:t>The journey from Ray Tomlinson’simple @ command to the AI-powered, always connected platforms of today represents one of the most significant technological and social transformations in human history.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/>
            </a:pPr>
            <a:r>
              <a:rPr sz="4400"/>
              <a:t>Timeline Summary</a:t>
            </a:r>
            <a:endParaRPr sz="4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lstStyle/>
          <a:p/>
          <a:p>
            <a:pPr>
              <a:buFont typeface="Wingdings" panose="05000000000000000000" charset="0"/>
              <a:buChar char="v"/>
              <a:defRPr sz="2200"/>
            </a:pPr>
            <a:r>
              <a:rPr lang="en-US" sz="3200"/>
              <a:t> </a:t>
            </a:r>
            <a:r>
              <a:rPr sz="3200"/>
              <a:t>1971 — First Email Sent</a:t>
            </a:r>
            <a:endParaRPr sz="3200"/>
          </a:p>
          <a:p>
            <a:pPr>
              <a:buFont typeface="Wingdings" panose="05000000000000000000" charset="0"/>
              <a:buChar char="v"/>
              <a:defRPr sz="2200"/>
            </a:pPr>
            <a:r>
              <a:rPr lang="en-US" sz="3200"/>
              <a:t> </a:t>
            </a:r>
            <a:r>
              <a:rPr sz="3200"/>
              <a:t>1982 — SMTP Standardized</a:t>
            </a:r>
            <a:endParaRPr sz="3200"/>
          </a:p>
          <a:p>
            <a:pPr>
              <a:buFont typeface="Wingdings" panose="05000000000000000000" charset="0"/>
              <a:buChar char="v"/>
              <a:defRPr sz="2200"/>
            </a:pPr>
            <a:r>
              <a:rPr lang="en-US" sz="3200"/>
              <a:t> </a:t>
            </a:r>
            <a:r>
              <a:rPr sz="3200"/>
              <a:t>1996 — Hotmail Launched</a:t>
            </a:r>
            <a:endParaRPr sz="3200"/>
          </a:p>
          <a:p>
            <a:pPr>
              <a:buFont typeface="Wingdings" panose="05000000000000000000" charset="0"/>
              <a:buChar char="v"/>
              <a:defRPr sz="2200"/>
            </a:pPr>
            <a:r>
              <a:rPr lang="en-US" sz="3200"/>
              <a:t> </a:t>
            </a:r>
            <a:r>
              <a:rPr sz="3200"/>
              <a:t>2004 — Gmail Introduced</a:t>
            </a:r>
            <a:endParaRPr sz="3200"/>
          </a:p>
          <a:p>
            <a:pPr>
              <a:buFont typeface="Wingdings" panose="05000000000000000000" charset="0"/>
              <a:buChar char="v"/>
              <a:defRPr sz="2200"/>
            </a:pPr>
            <a:r>
              <a:rPr lang="en-US" sz="3200"/>
              <a:t> </a:t>
            </a:r>
            <a:r>
              <a:rPr sz="3200"/>
              <a:t>2009 — WhatsApp Launched</a:t>
            </a:r>
            <a:endParaRPr sz="32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extLst>
                                      <p:ext uri="{505F2C04-C923-438B-8C0F-E0CD2BADF298}">
                                        <wppc:dynamicDigit xmlns:wppc="http://www.wps.cn/officeDocument/PresentationCustomData" type="0">
                                          <p:anim to="" calcmode="lin" valueType="num">
                                            <p:cBhvr>
                                              <p:cTn id="7" dur="3000" fill="hold"/>
                                              <p:tgtEl>
                                                <p:spTgt spid="3">
                                                  <p:txEl>
                                                    <p:pRg st="1" end="1"/>
                                                  </p:txEl>
                                                </p:spTgt>
                                              </p:tgtEl>
                                              <p:attrNameLst>
                                                <p:attrName>num.show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v"/>
                                                </p:val>
                                              </p:tav>
                                            </p:tavLst>
                                          </p:anim>
                                        </wppc:dynamicDigit>
                                      </p:ext>
                                    </p:extLs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extLst>
                                      <p:ext uri="{505F2C04-C923-438B-8C0F-E0CD2BADF298}">
                                        <wppc:dynamicDigit xmlns:wppc="http://www.wps.cn/officeDocument/PresentationCustomData" type="0">
                                          <p:anim to="" calcmode="lin" valueType="num">
                                            <p:cBhvr>
                                              <p:cTn id="10" dur="3000" fill="hold"/>
                                              <p:tgtEl>
                                                <p:spTgt spid="3">
                                                  <p:txEl>
                                                    <p:pRg st="2" end="2"/>
                                                  </p:txEl>
                                                </p:spTgt>
                                              </p:tgtEl>
                                              <p:attrNameLst>
                                                <p:attrName>num.show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v"/>
                                                </p:val>
                                              </p:tav>
                                            </p:tavLst>
                                          </p:anim>
                                        </wppc:dynamicDigit>
                                      </p:ext>
                                    </p:extLs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extLst>
                                      <p:ext uri="{505F2C04-C923-438B-8C0F-E0CD2BADF298}">
                                        <wppc:dynamicDigit xmlns:wppc="http://www.wps.cn/officeDocument/PresentationCustomData" type="0">
                                          <p:anim to="" calcmode="lin" valueType="num">
                                            <p:cBhvr>
                                              <p:cTn id="13" dur="3000" fill="hold"/>
                                              <p:tgtEl>
                                                <p:spTgt spid="3">
                                                  <p:txEl>
                                                    <p:pRg st="3" end="3"/>
                                                  </p:txEl>
                                                </p:spTgt>
                                              </p:tgtEl>
                                              <p:attrNameLst>
                                                <p:attrName>num.show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v"/>
                                                </p:val>
                                              </p:tav>
                                            </p:tavLst>
                                          </p:anim>
                                        </wppc:dynamicDigit>
                                      </p:ext>
                                    </p:extLs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extLst>
                                      <p:ext uri="{505F2C04-C923-438B-8C0F-E0CD2BADF298}">
                                        <wppc:dynamicDigit xmlns:wppc="http://www.wps.cn/officeDocument/PresentationCustomData" type="0">
                                          <p:anim to="" calcmode="lin" valueType="num">
                                            <p:cBhvr>
                                              <p:cTn id="16" dur="3000" fill="hold"/>
                                              <p:tgtEl>
                                                <p:spTgt spid="3">
                                                  <p:txEl>
                                                    <p:pRg st="4" end="4"/>
                                                  </p:txEl>
                                                </p:spTgt>
                                              </p:tgtEl>
                                              <p:attrNameLst>
                                                <p:attrName>num.show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v"/>
                                                </p:val>
                                              </p:tav>
                                            </p:tavLst>
                                          </p:anim>
                                        </wppc:dynamicDigit>
                                      </p:ext>
                                    </p:extLs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extLst>
                                      <p:ext uri="{505F2C04-C923-438B-8C0F-E0CD2BADF298}">
                                        <wppc:dynamicDigit xmlns:wppc="http://www.wps.cn/officeDocument/PresentationCustomData" type="0">
                                          <p:anim to="" calcmode="lin" valueType="num">
                                            <p:cBhvr>
                                              <p:cTn id="19" dur="3000" fill="hold"/>
                                              <p:tgtEl>
                                                <p:spTgt spid="3">
                                                  <p:txEl>
                                                    <p:pRg st="5" end="5"/>
                                                  </p:txEl>
                                                </p:spTgt>
                                              </p:tgtEl>
                                              <p:attrNameLst>
                                                <p:attrName>num.show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v"/>
                                                </p:val>
                                              </p:tav>
                                            </p:tavLst>
                                          </p:anim>
                                        </wppc:dynamicDigit>
                                      </p:ext>
                                    </p:extLs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764706320096_1_1"/>
  <p:tag name="KSO_WM_DIAGRAM_VIRTUALLY_FRAME" val="{&quot;height&quot;:356.37503937007875,&quot;left&quot;:36,&quot;top&quot;:126,&quot;width&quot;:648}"/>
</p:tagLst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1745</Words>
  <Application>WPS Presentation</Application>
  <PresentationFormat>On-screen Show (4:3)</PresentationFormat>
  <Paragraphs>63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Wingdings</vt:lpstr>
      <vt:lpstr>Blue Waves</vt:lpstr>
      <vt:lpstr>History of Email and Online Communication</vt:lpstr>
      <vt:lpstr>PowerPoint 演示文稿</vt:lpstr>
      <vt:lpstr>1. Early Foundations (1960s–1970s)</vt:lpstr>
      <vt:lpstr>2. The Invention of Email (1971)</vt:lpstr>
      <vt:lpstr>3. Expansion Era (1970s–1980s)</vt:lpstr>
      <vt:lpstr>4. Public Email Revolution (1990s)</vt:lpstr>
      <vt:lpstr>5. Instant Messaging Era (2000s)</vt:lpstr>
      <vt:lpstr>6. Mobile &amp; Social Messaging (2010s–Present)</vt:lpstr>
      <vt:lpstr>7. Email Today</vt:lpstr>
      <vt:lpstr>PowerPoint 演示文稿</vt:lpstr>
      <vt:lpstr>Timeline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2</cp:revision>
  <dcterms:created xsi:type="dcterms:W3CDTF">2013-01-27T09:14:00Z</dcterms:created>
  <dcterms:modified xsi:type="dcterms:W3CDTF">2025-12-02T21:29:42Z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98A775C36AA7475598AFD67F106F245C_12</vt:lpwstr>
  </property>
  <property fmtid="{D5CDD505-2E9C-101B-9397-08002B2CF9AE}" pid="3" name="KSOProductBuildVer">
    <vt:lpwstr>1033-12.2.0.23155</vt:lpwstr>
  </property>
</Properties>
</file>